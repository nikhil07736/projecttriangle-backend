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we're introducing the Attendance Management System, a modern solution designed to transform a tedious, everyday task into a streamlined, data-rich process. Our goal is to bring effortless tracking and powerful insights to your fingertips, saving you time and resources."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traditional methods of tracking attendance are broken. They are a significant drain on resources, consuming hours of administrative time that could be better spent elsewhere. These manual systems are not only inefficient but are also highly prone to human error, which can lead to payroll inaccuracies and compliance issues. Furthermore, you lack real-time visibility, making it impossible to act quickly on attendance trends. And finally, securing this data and generating meaningful reports is a constant challenge."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centralized and automated platform that directly addresses these problems. We replace outdated methods with a seamless, web-based application. It features automated record-keeping to free up your staff, real-time dashboards for instant oversight, and secure cloud storage to ensure your data is always safe and accessible. With our system, generating insightful reports is just a click away."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of our platform is the MERN stack—a powerful combination of modern technologies. We use MongoDB for flexible and scalable data storage, Express.js for a reliable back-end, React to create a dynamic and user-friendly interface, and Node.js for its exceptional speed and real-time capabilities. This stack ensures our system is not only powerful and secure today but also scalable for future growth."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makes our solution stand out? It's our commitment to complete automation, which directly translates to cost savings. It's our unified platform that provides real-time data, empowering you to make informed decisions instantly. We've focused on creating an incredibly simple and modern user experience to ensure everyone can use it effectively from day one. And finally, our secure and scalable architecture means this is a long-term solution you can trust."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our system brings to your organization is clear and measurable. You'll see an immediate increase in productivity, a reduction in operational costs, and a significant improvement in data accuracy and compliance. Most importantly, you gain valuable insights to manage your people more effectively. This solution is ideal for any organization looking to modernize its processes, from schools and universities to businesses of all sizes."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simple. We'd love to schedule a live, personalized demo to walk you through the platform and show you how it can be tailored to your specific needs. We're also open to discussing a pilot program to prove its value within your own environment. Please feel free to reach out to us via email or visit our website.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09360"/>
            <a:ext cx="12192000" cy="685800"/>
          </a:xfrm>
          <a:prstGeom prst="rect">
            <a:avLst/>
          </a:prstGeom>
          <a:solidFill>
            <a:srgbClr val="0072C6"/>
          </a:solidFill>
          <a:ln/>
        </p:spPr>
      </p:sp>
      <p:sp>
        <p:nvSpPr>
          <p:cNvPr id="3" name="Text 1"/>
          <p:cNvSpPr/>
          <p:nvPr/>
        </p:nvSpPr>
        <p:spPr>
          <a:xfrm>
            <a:off x="457200" y="6377940"/>
            <a:ext cx="10972800" cy="0"/>
          </a:xfrm>
          <a:prstGeom prst="rect">
            <a:avLst/>
          </a:prstGeom>
          <a:noFill/>
          <a:ln/>
        </p:spPr>
        <p:txBody>
          <a:bodyPr wrap="square" rtlCol="0" anchor="ctr"/>
          <a:lstStyle/>
          <a:p>
            <a:pPr algn="r" indent="0" marL="0">
              <a:buNone/>
            </a:pPr>
            <a:r>
              <a:rPr lang="en-US" sz="1000" dirty="0">
                <a:solidFill>
                  <a:srgbClr val="FFFFFF"/>
                </a:solidFill>
              </a:rPr>
              <a:t>Project Triangle ©</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0072C6"/>
                </a:solidFill>
              </a:rPr>
              <a:t>Attendance Management System: Effortless Tracking, Powerful Insights.</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363636"/>
                </a:solidFill>
              </a:rPr>
              <a:t>The Problem: The Hidden Costs of Manual Tracking</a:t>
            </a:r>
            <a:endParaRPr lang="en-US" sz="3200" dirty="0"/>
          </a:p>
        </p:txBody>
      </p:sp>
      <p:sp>
        <p:nvSpPr>
          <p:cNvPr id="3" name="Text 1"/>
          <p:cNvSpPr/>
          <p:nvPr/>
        </p:nvSpPr>
        <p:spPr>
          <a:xfrm>
            <a:off x="457200" y="1371600"/>
            <a:ext cx="10972800" cy="5143500"/>
          </a:xfrm>
          <a:prstGeom prst="rect">
            <a:avLst/>
          </a:prstGeom>
          <a:noFill/>
          <a:ln/>
        </p:spPr>
        <p:txBody>
          <a:bodyPr wrap="square" rtlCol="0" anchor="ctr"/>
          <a:lstStyle/>
          <a:p>
            <a:pPr marL="342900" indent="-342900">
              <a:spcAft>
                <a:spcPts val="1000"/>
              </a:spcAft>
              <a:buSzPct val="100000"/>
              <a:buChar char="•"/>
            </a:pPr>
            <a:r>
              <a:rPr lang="en-US" sz="2000" dirty="0">
                <a:solidFill>
                  <a:srgbClr val="000000"/>
                </a:solidFill>
              </a:rPr>
              <a:t>TimeConsuming &amp; Inefficient: Manual entry and compilation of attendance records consume valuable administrative hours every single day.</a:t>
            </a:r>
            <a:endParaRPr lang="en-US" sz="2000" dirty="0"/>
          </a:p>
          <a:p>
            <a:pPr marL="342900" indent="-342900">
              <a:spcAft>
                <a:spcPts val="1000"/>
              </a:spcAft>
              <a:buSzPct val="100000"/>
              <a:buChar char="•"/>
            </a:pPr>
            <a:r>
              <a:rPr lang="en-US" sz="2000" dirty="0">
                <a:solidFill>
                  <a:srgbClr val="000000"/>
                </a:solidFill>
              </a:rPr>
              <a:t>Prone to Human Error: Paperbased or spreadsheet systems are susceptible to mistakes, leading to inaccurate records and payroll disputes.</a:t>
            </a:r>
            <a:endParaRPr lang="en-US" sz="2000" dirty="0"/>
          </a:p>
          <a:p>
            <a:pPr marL="342900" indent="-342900">
              <a:spcAft>
                <a:spcPts val="1000"/>
              </a:spcAft>
              <a:buSzPct val="100000"/>
              <a:buChar char="•"/>
            </a:pPr>
            <a:r>
              <a:rPr lang="en-US" sz="2000" dirty="0">
                <a:solidFill>
                  <a:srgbClr val="000000"/>
                </a:solidFill>
              </a:rPr>
              <a:t>Lack of RealTime Visibility: Managers and administrators can't get an immediate overview of attendance, delaying responses to absenteeism.</a:t>
            </a:r>
            <a:endParaRPr lang="en-US" sz="2000" dirty="0"/>
          </a:p>
          <a:p>
            <a:pPr marL="342900" indent="-342900">
              <a:spcAft>
                <a:spcPts val="1000"/>
              </a:spcAft>
              <a:buSzPct val="100000"/>
              <a:buChar char="•"/>
            </a:pPr>
            <a:r>
              <a:rPr lang="en-US" sz="2000" dirty="0">
                <a:solidFill>
                  <a:srgbClr val="000000"/>
                </a:solidFill>
              </a:rPr>
              <a:t>Insecure Data &amp; Difficult Reporting: Physical records are easily lost or damaged, and generating analytical reports is a complex, manual task.</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363636"/>
                </a:solidFill>
              </a:rPr>
              <a:t>Our Solution: A Centralized, Automated Platform</a:t>
            </a:r>
            <a:endParaRPr lang="en-US" sz="3200" dirty="0"/>
          </a:p>
        </p:txBody>
      </p:sp>
      <p:sp>
        <p:nvSpPr>
          <p:cNvPr id="3" name="Text 1"/>
          <p:cNvSpPr/>
          <p:nvPr/>
        </p:nvSpPr>
        <p:spPr>
          <a:xfrm>
            <a:off x="457200" y="1371600"/>
            <a:ext cx="10972800" cy="5143500"/>
          </a:xfrm>
          <a:prstGeom prst="rect">
            <a:avLst/>
          </a:prstGeom>
          <a:noFill/>
          <a:ln/>
        </p:spPr>
        <p:txBody>
          <a:bodyPr wrap="square" rtlCol="0" anchor="ctr"/>
          <a:lstStyle/>
          <a:p>
            <a:pPr marL="342900" indent="-342900">
              <a:spcAft>
                <a:spcPts val="1000"/>
              </a:spcAft>
              <a:buSzPct val="100000"/>
              <a:buChar char="•"/>
            </a:pPr>
            <a:r>
              <a:rPr lang="en-US" sz="2000" dirty="0">
                <a:solidFill>
                  <a:srgbClr val="000000"/>
                </a:solidFill>
              </a:rPr>
              <a:t>The Attendance Management System is a userfriendly, webbased application that provides:</a:t>
            </a:r>
            <a:endParaRPr lang="en-US" sz="2000" dirty="0"/>
          </a:p>
          <a:p>
            <a:pPr marL="342900" indent="-342900">
              <a:spcAft>
                <a:spcPts val="1000"/>
              </a:spcAft>
              <a:buSzPct val="100000"/>
              <a:buChar char="•"/>
            </a:pPr>
            <a:r>
              <a:rPr lang="en-US" sz="2000" dirty="0">
                <a:solidFill>
                  <a:srgbClr val="000000"/>
                </a:solidFill>
              </a:rPr>
              <a:t>Automated RecordKeeping: Eliminates the need for manual entry with a simple, digital checkin/out process.</a:t>
            </a:r>
            <a:endParaRPr lang="en-US" sz="2000" dirty="0"/>
          </a:p>
          <a:p>
            <a:pPr marL="342900" indent="-342900">
              <a:spcAft>
                <a:spcPts val="1000"/>
              </a:spcAft>
              <a:buSzPct val="100000"/>
              <a:buChar char="•"/>
            </a:pPr>
            <a:r>
              <a:rPr lang="en-US" sz="2000" dirty="0">
                <a:solidFill>
                  <a:srgbClr val="000000"/>
                </a:solidFill>
              </a:rPr>
              <a:t>RealTime Dashboards: Instantly view attendance data, track absenteeism, and monitor trends as they happen.</a:t>
            </a:r>
            <a:endParaRPr lang="en-US" sz="2000" dirty="0"/>
          </a:p>
          <a:p>
            <a:pPr marL="342900" indent="-342900">
              <a:spcAft>
                <a:spcPts val="1000"/>
              </a:spcAft>
              <a:buSzPct val="100000"/>
              <a:buChar char="•"/>
            </a:pPr>
            <a:r>
              <a:rPr lang="en-US" sz="2000" dirty="0">
                <a:solidFill>
                  <a:srgbClr val="000000"/>
                </a:solidFill>
              </a:rPr>
              <a:t>Secure Cloud Storage: All attendance data is securely stored and backed up, accessible anytime, anywhere.</a:t>
            </a:r>
            <a:endParaRPr lang="en-US" sz="2000" dirty="0"/>
          </a:p>
          <a:p>
            <a:pPr marL="342900" indent="-342900">
              <a:spcAft>
                <a:spcPts val="1000"/>
              </a:spcAft>
              <a:buSzPct val="100000"/>
              <a:buChar char="•"/>
            </a:pPr>
            <a:r>
              <a:rPr lang="en-US" sz="2000" dirty="0">
                <a:solidFill>
                  <a:srgbClr val="000000"/>
                </a:solidFill>
              </a:rPr>
              <a:t>Customizable Reporting: Easily generate detailed daily, weekly, or monthly attendance reports for analysis and payroll.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363636"/>
                </a:solidFill>
              </a:rPr>
              <a:t>Core Technology: Built on the MERN Stack</a:t>
            </a:r>
            <a:endParaRPr lang="en-US" sz="3200" dirty="0"/>
          </a:p>
        </p:txBody>
      </p:sp>
      <p:sp>
        <p:nvSpPr>
          <p:cNvPr id="3" name="Text 1"/>
          <p:cNvSpPr/>
          <p:nvPr/>
        </p:nvSpPr>
        <p:spPr>
          <a:xfrm>
            <a:off x="457200" y="1371600"/>
            <a:ext cx="10972800" cy="5143500"/>
          </a:xfrm>
          <a:prstGeom prst="rect">
            <a:avLst/>
          </a:prstGeom>
          <a:noFill/>
          <a:ln/>
        </p:spPr>
        <p:txBody>
          <a:bodyPr wrap="square" rtlCol="0" anchor="ctr"/>
          <a:lstStyle/>
          <a:p>
            <a:pPr marL="342900" indent="-342900">
              <a:spcAft>
                <a:spcPts val="1000"/>
              </a:spcAft>
              <a:buSzPct val="100000"/>
              <a:buChar char="•"/>
            </a:pPr>
            <a:r>
              <a:rPr lang="en-US" sz="2000" dirty="0">
                <a:solidFill>
                  <a:srgbClr val="000000"/>
                </a:solidFill>
              </a:rPr>
              <a:t>Our system is built on a modern, robust, and scalable technology stack:</a:t>
            </a:r>
            <a:endParaRPr lang="en-US" sz="2000" dirty="0"/>
          </a:p>
          <a:p>
            <a:pPr marL="342900" indent="-342900">
              <a:spcAft>
                <a:spcPts val="1000"/>
              </a:spcAft>
              <a:buSzPct val="100000"/>
              <a:buChar char="•"/>
            </a:pPr>
            <a:r>
              <a:rPr lang="en-US" sz="2000" dirty="0">
                <a:solidFill>
                  <a:srgbClr val="000000"/>
                </a:solidFill>
              </a:rPr>
              <a:t>MongoDB: A flexible, NoSQL database that securely stores attendance data.</a:t>
            </a:r>
            <a:endParaRPr lang="en-US" sz="2000" dirty="0"/>
          </a:p>
          <a:p>
            <a:pPr marL="342900" indent="-342900">
              <a:spcAft>
                <a:spcPts val="1000"/>
              </a:spcAft>
              <a:buSzPct val="100000"/>
              <a:buChar char="•"/>
            </a:pPr>
            <a:r>
              <a:rPr lang="en-US" sz="2000" dirty="0">
                <a:solidFill>
                  <a:srgbClr val="000000"/>
                </a:solidFill>
              </a:rPr>
              <a:t>Express.js: A robust backend framework ensuring reliable serverside logic and API handling.</a:t>
            </a:r>
            <a:endParaRPr lang="en-US" sz="2000" dirty="0"/>
          </a:p>
          <a:p>
            <a:pPr marL="342900" indent="-342900">
              <a:spcAft>
                <a:spcPts val="1000"/>
              </a:spcAft>
              <a:buSzPct val="100000"/>
              <a:buChar char="•"/>
            </a:pPr>
            <a:r>
              <a:rPr lang="en-US" sz="2000" dirty="0">
                <a:solidFill>
                  <a:srgbClr val="000000"/>
                </a:solidFill>
              </a:rPr>
              <a:t>React: A powerful frontend library for creating a fast, responsive, and highly interactive user interface.</a:t>
            </a:r>
            <a:endParaRPr lang="en-US" sz="2000" dirty="0"/>
          </a:p>
          <a:p>
            <a:pPr marL="342900" indent="-342900">
              <a:spcAft>
                <a:spcPts val="1000"/>
              </a:spcAft>
              <a:buSzPct val="100000"/>
              <a:buChar char="•"/>
            </a:pPr>
            <a:r>
              <a:rPr lang="en-US" sz="2000" dirty="0">
                <a:solidFill>
                  <a:srgbClr val="000000"/>
                </a:solidFill>
              </a:rPr>
              <a:t>Node.js: A highperformance JavaScript runtime environment that enables realtime data updates.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363636"/>
                </a:solidFill>
              </a:rPr>
              <a:t>Why We Are Superior</a:t>
            </a:r>
            <a:endParaRPr lang="en-US" sz="3200" dirty="0"/>
          </a:p>
        </p:txBody>
      </p:sp>
      <p:sp>
        <p:nvSpPr>
          <p:cNvPr id="3" name="Text 1"/>
          <p:cNvSpPr/>
          <p:nvPr/>
        </p:nvSpPr>
        <p:spPr>
          <a:xfrm>
            <a:off x="457200" y="1371600"/>
            <a:ext cx="10972800" cy="5143500"/>
          </a:xfrm>
          <a:prstGeom prst="rect">
            <a:avLst/>
          </a:prstGeom>
          <a:noFill/>
          <a:ln/>
        </p:spPr>
        <p:txBody>
          <a:bodyPr wrap="square" rtlCol="0" anchor="ctr"/>
          <a:lstStyle/>
          <a:p>
            <a:pPr marL="342900" indent="-342900">
              <a:spcAft>
                <a:spcPts val="1000"/>
              </a:spcAft>
              <a:buSzPct val="100000"/>
              <a:buChar char="•"/>
            </a:pPr>
            <a:r>
              <a:rPr lang="en-US" sz="2000" dirty="0">
                <a:solidFill>
                  <a:srgbClr val="000000"/>
                </a:solidFill>
              </a:rPr>
              <a:t>Complete Automation: We eliminate 100% of manual data entry, saving significant administrative overhead compared to semidigital or paperbased systems.</a:t>
            </a:r>
            <a:endParaRPr lang="en-US" sz="2000" dirty="0"/>
          </a:p>
          <a:p>
            <a:pPr marL="342900" indent="-342900">
              <a:spcAft>
                <a:spcPts val="1000"/>
              </a:spcAft>
              <a:buSzPct val="100000"/>
              <a:buChar char="•"/>
            </a:pPr>
            <a:r>
              <a:rPr lang="en-US" sz="2000" dirty="0">
                <a:solidFill>
                  <a:srgbClr val="000000"/>
                </a:solidFill>
              </a:rPr>
              <a:t>Unified, RealTime Data: Unlike fragmented spreadsheets, our platform provides a single source of truth, updated in realtime for immediate decisionmaking.</a:t>
            </a:r>
            <a:endParaRPr lang="en-US" sz="2000" dirty="0"/>
          </a:p>
          <a:p>
            <a:pPr marL="342900" indent="-342900">
              <a:spcAft>
                <a:spcPts val="1000"/>
              </a:spcAft>
              <a:buSzPct val="100000"/>
              <a:buChar char="•"/>
            </a:pPr>
            <a:r>
              <a:rPr lang="en-US" sz="2000" dirty="0">
                <a:solidFill>
                  <a:srgbClr val="000000"/>
                </a:solidFill>
              </a:rPr>
              <a:t>Modern User Experience: Our intuitive, webbased interface requires minimal training and is accessible on any device, ensuring high adoption rates.</a:t>
            </a:r>
            <a:endParaRPr lang="en-US" sz="2000" dirty="0"/>
          </a:p>
          <a:p>
            <a:pPr marL="342900" indent="-342900">
              <a:spcAft>
                <a:spcPts val="1000"/>
              </a:spcAft>
              <a:buSzPct val="100000"/>
              <a:buChar char="•"/>
            </a:pPr>
            <a:r>
              <a:rPr lang="en-US" sz="2000" dirty="0">
                <a:solidFill>
                  <a:srgbClr val="000000"/>
                </a:solidFill>
              </a:rPr>
              <a:t>Secure &amp; Scalable: Built on a modern tech stack, our system offers superior security and can easily scale with your organization's growth.</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363636"/>
                </a:solidFill>
              </a:rPr>
              <a:t>Business Value &amp; Target Audience</a:t>
            </a:r>
            <a:endParaRPr lang="en-US" sz="3200" dirty="0"/>
          </a:p>
        </p:txBody>
      </p:sp>
      <p:sp>
        <p:nvSpPr>
          <p:cNvPr id="3" name="Text 1"/>
          <p:cNvSpPr/>
          <p:nvPr/>
        </p:nvSpPr>
        <p:spPr>
          <a:xfrm>
            <a:off x="457200" y="1371600"/>
            <a:ext cx="10972800" cy="5143500"/>
          </a:xfrm>
          <a:prstGeom prst="rect">
            <a:avLst/>
          </a:prstGeom>
          <a:noFill/>
          <a:ln/>
        </p:spPr>
        <p:txBody>
          <a:bodyPr wrap="square" rtlCol="0" anchor="ctr"/>
          <a:lstStyle/>
          <a:p>
            <a:pPr marL="342900" indent="-342900">
              <a:spcAft>
                <a:spcPts val="1000"/>
              </a:spcAft>
              <a:buSzPct val="100000"/>
              <a:buChar char="•"/>
            </a:pPr>
            <a:r>
              <a:rPr lang="en-US" sz="2000" dirty="0">
                <a:solidFill>
                  <a:srgbClr val="000000"/>
                </a:solidFill>
              </a:rPr>
              <a:t>Business Value:</a:t>
            </a:r>
            <a:endParaRPr lang="en-US" sz="2000" dirty="0"/>
          </a:p>
          <a:p>
            <a:pPr marL="342900" indent="-342900">
              <a:spcAft>
                <a:spcPts val="1000"/>
              </a:spcAft>
              <a:buSzPct val="100000"/>
              <a:buChar char="•"/>
            </a:pPr>
            <a:r>
              <a:rPr lang="en-US" sz="2000" dirty="0">
                <a:solidFill>
                  <a:srgbClr val="000000"/>
                </a:solidFill>
              </a:rPr>
              <a:t>Increased Productivity: Frees up administrative staff to focus on highervalue tasks.</a:t>
            </a:r>
            <a:endParaRPr lang="en-US" sz="2000" dirty="0"/>
          </a:p>
          <a:p>
            <a:pPr marL="342900" indent="-342900">
              <a:spcAft>
                <a:spcPts val="1000"/>
              </a:spcAft>
              <a:buSzPct val="100000"/>
              <a:buChar char="•"/>
            </a:pPr>
            <a:r>
              <a:rPr lang="en-US" sz="2000" dirty="0">
                <a:solidFill>
                  <a:srgbClr val="000000"/>
                </a:solidFill>
              </a:rPr>
              <a:t>Reduced Operational Costs: Minimizes errors in payroll and eliminates the costs of paper supplies.</a:t>
            </a:r>
            <a:endParaRPr lang="en-US" sz="2000" dirty="0"/>
          </a:p>
          <a:p>
            <a:pPr marL="342900" indent="-342900">
              <a:spcAft>
                <a:spcPts val="1000"/>
              </a:spcAft>
              <a:buSzPct val="100000"/>
              <a:buChar char="•"/>
            </a:pPr>
            <a:r>
              <a:rPr lang="en-US" sz="2000" dirty="0">
                <a:solidFill>
                  <a:srgbClr val="000000"/>
                </a:solidFill>
              </a:rPr>
              <a:t>Improved Accuracy &amp; Compliance: Ensures precise, reliable records for audits and HR management.</a:t>
            </a:r>
            <a:endParaRPr lang="en-US" sz="2000" dirty="0"/>
          </a:p>
          <a:p>
            <a:pPr marL="342900" indent="-342900">
              <a:spcAft>
                <a:spcPts val="1000"/>
              </a:spcAft>
              <a:buSzPct val="100000"/>
              <a:buChar char="•"/>
            </a:pPr>
            <a:r>
              <a:rPr lang="en-US" sz="2000" dirty="0">
                <a:solidFill>
                  <a:srgbClr val="000000"/>
                </a:solidFill>
              </a:rPr>
              <a:t>DataDriven Insights: Provides clear visibility into attendance patterns to improve workforce or student management.</a:t>
            </a:r>
            <a:endParaRPr lang="en-US" sz="2000" dirty="0"/>
          </a:p>
          <a:p>
            <a:pPr marL="342900" indent="-342900">
              <a:spcAft>
                <a:spcPts val="1000"/>
              </a:spcAft>
              <a:buSzPct val="100000"/>
              <a:buChar char="•"/>
            </a:pPr>
            <a:r>
              <a:rPr lang="en-US" sz="2000" dirty="0">
                <a:solidFill>
                  <a:srgbClr val="000000"/>
                </a:solidFill>
              </a:rPr>
              <a:t>Target Audience:</a:t>
            </a:r>
            <a:endParaRPr lang="en-US" sz="2000" dirty="0"/>
          </a:p>
          <a:p>
            <a:pPr marL="342900" indent="-342900">
              <a:spcAft>
                <a:spcPts val="1000"/>
              </a:spcAft>
              <a:buSzPct val="100000"/>
              <a:buChar char="•"/>
            </a:pPr>
            <a:r>
              <a:rPr lang="en-US" sz="2000" dirty="0">
                <a:solidFill>
                  <a:srgbClr val="000000"/>
                </a:solidFill>
              </a:rPr>
              <a:t>Educational Institutions (Schools, Colleges, Universities)</a:t>
            </a:r>
            <a:endParaRPr lang="en-US" sz="2000" dirty="0"/>
          </a:p>
          <a:p>
            <a:pPr marL="342900" indent="-342900">
              <a:spcAft>
                <a:spcPts val="1000"/>
              </a:spcAft>
              <a:buSzPct val="100000"/>
              <a:buChar char="•"/>
            </a:pPr>
            <a:r>
              <a:rPr lang="en-US" sz="2000" dirty="0">
                <a:solidFill>
                  <a:srgbClr val="000000"/>
                </a:solidFill>
              </a:rPr>
              <a:t>Small to MediumSized Businesses (SMBs)</a:t>
            </a:r>
            <a:endParaRPr lang="en-US" sz="2000" dirty="0"/>
          </a:p>
          <a:p>
            <a:pPr marL="342900" indent="-342900">
              <a:spcAft>
                <a:spcPts val="1000"/>
              </a:spcAft>
              <a:buSzPct val="100000"/>
              <a:buChar char="•"/>
            </a:pPr>
            <a:r>
              <a:rPr lang="en-US" sz="2000" dirty="0">
                <a:solidFill>
                  <a:srgbClr val="000000"/>
                </a:solidFill>
              </a:rPr>
              <a:t>Corporate Organizations &amp; Enterprises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28600"/>
            <a:ext cx="10972800" cy="914400"/>
          </a:xfrm>
          <a:prstGeom prst="rect">
            <a:avLst/>
          </a:prstGeom>
          <a:noFill/>
          <a:ln/>
        </p:spPr>
        <p:txBody>
          <a:bodyPr wrap="square" rtlCol="0" anchor="ctr"/>
          <a:lstStyle/>
          <a:p>
            <a:pPr indent="0" marL="0">
              <a:buNone/>
            </a:pPr>
            <a:r>
              <a:rPr lang="en-US" sz="3200" b="1" dirty="0">
                <a:solidFill>
                  <a:srgbClr val="363636"/>
                </a:solidFill>
              </a:rPr>
              <a:t>Next Steps / Call to Action</a:t>
            </a:r>
            <a:endParaRPr lang="en-US" sz="3200" dirty="0"/>
          </a:p>
        </p:txBody>
      </p:sp>
      <p:sp>
        <p:nvSpPr>
          <p:cNvPr id="3" name="Text 1"/>
          <p:cNvSpPr/>
          <p:nvPr/>
        </p:nvSpPr>
        <p:spPr>
          <a:xfrm>
            <a:off x="457200" y="1371600"/>
            <a:ext cx="10972800" cy="5143500"/>
          </a:xfrm>
          <a:prstGeom prst="rect">
            <a:avLst/>
          </a:prstGeom>
          <a:noFill/>
          <a:ln/>
        </p:spPr>
        <p:txBody>
          <a:bodyPr wrap="square" rtlCol="0" anchor="ctr"/>
          <a:lstStyle/>
          <a:p>
            <a:pPr marL="342900" indent="-342900">
              <a:spcAft>
                <a:spcPts val="1000"/>
              </a:spcAft>
              <a:buSzPct val="100000"/>
              <a:buChar char="•"/>
            </a:pPr>
            <a:r>
              <a:rPr lang="en-US" sz="2000" dirty="0">
                <a:solidFill>
                  <a:srgbClr val="000000"/>
                </a:solidFill>
              </a:rPr>
              <a:t>Let's modernize your attendance tracking together.</a:t>
            </a:r>
            <a:endParaRPr lang="en-US" sz="2000" dirty="0"/>
          </a:p>
          <a:p>
            <a:pPr marL="342900" indent="-342900">
              <a:spcAft>
                <a:spcPts val="1000"/>
              </a:spcAft>
              <a:buSzPct val="100000"/>
              <a:buChar char="•"/>
            </a:pPr>
            <a:r>
              <a:rPr lang="en-US" sz="2000" dirty="0">
                <a:solidFill>
                  <a:srgbClr val="000000"/>
                </a:solidFill>
              </a:rPr>
              <a:t>1.  Schedule a Live Demo: See the system in action and get your specific questions answered.</a:t>
            </a:r>
            <a:endParaRPr lang="en-US" sz="2000" dirty="0"/>
          </a:p>
          <a:p>
            <a:pPr marL="342900" indent="-342900">
              <a:spcAft>
                <a:spcPts val="1000"/>
              </a:spcAft>
              <a:buSzPct val="100000"/>
              <a:buChar char="•"/>
            </a:pPr>
            <a:r>
              <a:rPr lang="en-US" sz="2000" dirty="0">
                <a:solidFill>
                  <a:srgbClr val="000000"/>
                </a:solidFill>
              </a:rPr>
              <a:t>2.  Discuss a Pilot Program: Let's set up a trial for one of your departments to demonstrate the value firsthand.</a:t>
            </a:r>
            <a:endParaRPr lang="en-US" sz="2000" dirty="0"/>
          </a:p>
          <a:p>
            <a:pPr marL="342900" indent="-342900">
              <a:spcAft>
                <a:spcPts val="1000"/>
              </a:spcAft>
              <a:buSzPct val="100000"/>
              <a:buChar char="•"/>
            </a:pPr>
            <a:r>
              <a:rPr lang="en-US" sz="2000" dirty="0">
                <a:solidFill>
                  <a:srgbClr val="000000"/>
                </a:solidFill>
              </a:rPr>
              <a:t>Contact Us:</a:t>
            </a:r>
            <a:endParaRPr lang="en-US" sz="2000" dirty="0"/>
          </a:p>
          <a:p>
            <a:pPr marL="342900" indent="-342900">
              <a:spcAft>
                <a:spcPts val="1000"/>
              </a:spcAft>
              <a:buSzPct val="100000"/>
              <a:buChar char="•"/>
            </a:pPr>
            <a:r>
              <a:rPr lang="en-US" sz="2000" dirty="0">
                <a:solidFill>
                  <a:srgbClr val="000000"/>
                </a:solidFill>
              </a:rPr>
              <a:t>Email: demo@attendancesystem.com</a:t>
            </a:r>
            <a:endParaRPr lang="en-US" sz="2000" dirty="0"/>
          </a:p>
          <a:p>
            <a:pPr marL="342900" indent="-342900">
              <a:spcAft>
                <a:spcPts val="1000"/>
              </a:spcAft>
              <a:buSzPct val="100000"/>
              <a:buChar char="•"/>
            </a:pPr>
            <a:r>
              <a:rPr lang="en-US" sz="2000" dirty="0">
                <a:solidFill>
                  <a:srgbClr val="000000"/>
                </a:solidFill>
              </a:rPr>
              <a:t>Website: www.attendancesystem.com</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2025-10-16T15:14:18Z</dcterms:created>
  <dcterms:modified xsi:type="dcterms:W3CDTF">2025-10-16T15:14:18Z</dcterms:modified>
</cp:coreProperties>
</file>